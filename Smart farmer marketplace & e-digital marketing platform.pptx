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05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8294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4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0607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5539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4469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1114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4557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72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408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41252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36215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018814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3685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2870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229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749"/>
            <a:ext cx="1952272" cy="6852504"/>
            <a:chOff x="6627813" y="196102"/>
            <a:chExt cx="1952625" cy="5677649"/>
          </a:xfrm>
        </p:grpSpPr>
        <p:sp>
          <p:nvSpPr>
            <p:cNvPr id="50" name="Freeform 27"/>
            <p:cNvSpPr/>
            <p:nvPr/>
          </p:nvSpPr>
          <p:spPr bwMode="auto">
            <a:xfrm>
              <a:off x="6627813" y="19610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2/5/2026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0873976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31" y="2047526"/>
            <a:ext cx="7137577" cy="1280890"/>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SMART FARMER MARKETPLACE &amp; E-DIGITAL MARKETING SYSTEM</a:t>
            </a:r>
          </a:p>
        </p:txBody>
      </p:sp>
      <p:sp>
        <p:nvSpPr>
          <p:cNvPr id="3" name="Content Placeholder 2"/>
          <p:cNvSpPr>
            <a:spLocks noGrp="1"/>
          </p:cNvSpPr>
          <p:nvPr>
            <p:ph idx="1"/>
          </p:nvPr>
        </p:nvSpPr>
        <p:spPr>
          <a:xfrm>
            <a:off x="1657426" y="3962400"/>
            <a:ext cx="6591985" cy="637032"/>
          </a:xfrm>
        </p:spPr>
        <p:txBody>
          <a:bodyPr>
            <a:noAutofit/>
          </a:bodyPr>
          <a:lstStyle/>
          <a:p>
            <a:pPr marL="0" indent="0" algn="ctr">
              <a:buNone/>
            </a:pPr>
            <a:r>
              <a:rPr lang="en-US" sz="2200" i="1" dirty="0">
                <a:latin typeface="Times New Roman" panose="02020603050405020304" pitchFamily="18" charset="0"/>
                <a:cs typeface="Times New Roman" panose="02020603050405020304" pitchFamily="18" charset="0"/>
              </a:rPr>
              <a:t>A Web-Based Application</a:t>
            </a:r>
            <a:br>
              <a:rPr lang="en-US" sz="2200" dirty="0">
                <a:latin typeface="Times New Roman" panose="02020603050405020304" pitchFamily="18" charset="0"/>
                <a:cs typeface="Times New Roman" panose="02020603050405020304" pitchFamily="18" charset="0"/>
              </a:rPr>
            </a:br>
            <a:r>
              <a:rPr lang="en-US" sz="2200" i="1" dirty="0">
                <a:latin typeface="Times New Roman" panose="02020603050405020304" pitchFamily="18" charset="0"/>
                <a:cs typeface="Times New Roman" panose="02020603050405020304" pitchFamily="18" charset="0"/>
              </a:rPr>
              <a:t>Using Flask, SQLite, Bootstrap &amp; JavaScript</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a:xfrm>
            <a:off x="1942415" y="1905000"/>
            <a:ext cx="6591985" cy="3777622"/>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	The Smart Farmer Marketplace and E-Digital Marketing System is a web-based platform designed to connect farmers directly with buyers through an online marketplace. The system enables farmers to list agricultural products, manage prices, and promote items digitally. Buyers can browse products, place orders, and provide feedback. This system reduces the role of intermediaries, ensures fair pricing, and improves transparency in agricultural trade using digital automation.</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	Agriculture plays a vital role in the economy, yet many farmers face challenges such as limited market access and low profits due to intermediaries. Traditional selling methods lack digital support and transparency. This project introduces a smart digital marketplace that allows farmers to sell products directly to consumers while using e-digital marketing tools to increase product visibility and sales.</a:t>
            </a:r>
          </a:p>
          <a:p>
            <a:pPr marL="0" indent="0" algn="just">
              <a:lnSpc>
                <a:spcPct val="150000"/>
              </a:lnSpc>
              <a:buNone/>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Existing System</a:t>
            </a:r>
          </a:p>
        </p:txBody>
      </p:sp>
      <p:sp>
        <p:nvSpPr>
          <p:cNvPr id="8" name="Rectangle 4">
            <a:extLst>
              <a:ext uri="{FF2B5EF4-FFF2-40B4-BE49-F238E27FC236}">
                <a16:creationId xmlns:a16="http://schemas.microsoft.com/office/drawing/2014/main" id="{3D09232B-0956-AE1E-37E2-CD0DBE32C3F9}"/>
              </a:ext>
            </a:extLst>
          </p:cNvPr>
          <p:cNvSpPr>
            <a:spLocks noGrp="1" noChangeArrowheads="1"/>
          </p:cNvSpPr>
          <p:nvPr>
            <p:ph idx="1"/>
          </p:nvPr>
        </p:nvSpPr>
        <p:spPr bwMode="auto">
          <a:xfrm>
            <a:off x="1921634" y="2284046"/>
            <a:ext cx="6633547" cy="3037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Farmers depend on intermediaries to sell agricultural products</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market systems with limited transparency in pricing</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digital platform for product promotion and marketing</a:t>
            </a:r>
          </a:p>
          <a:p>
            <a:pPr marL="0" marR="0" lvl="0" indent="0" algn="just" defTabSz="914400" rtl="0" eaLnBrk="0" fontAlgn="base" latinLnBrk="0" hangingPunct="0">
              <a:lnSpc>
                <a:spcPct val="2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Buyers have limited access to product details and availability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a:t>
            </a:r>
          </a:p>
        </p:txBody>
      </p:sp>
      <p:sp>
        <p:nvSpPr>
          <p:cNvPr id="6" name="Rectangle 2">
            <a:extLst>
              <a:ext uri="{FF2B5EF4-FFF2-40B4-BE49-F238E27FC236}">
                <a16:creationId xmlns:a16="http://schemas.microsoft.com/office/drawing/2014/main" id="{C68CC3A8-D376-E17F-C922-0523B9E616D6}"/>
              </a:ext>
            </a:extLst>
          </p:cNvPr>
          <p:cNvSpPr>
            <a:spLocks noGrp="1" noChangeArrowheads="1"/>
          </p:cNvSpPr>
          <p:nvPr>
            <p:ph idx="1"/>
          </p:nvPr>
        </p:nvSpPr>
        <p:spPr bwMode="auto">
          <a:xfrm>
            <a:off x="2023425" y="2590874"/>
            <a:ext cx="6429965" cy="24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marketplace connecting farmers directly with buyers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product listing with images, price, and quantity</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E-digital marketing through offers and featured products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admin system for monitoring and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a:xfrm>
            <a:off x="1741247" y="2023872"/>
            <a:ext cx="6591985" cy="3777622"/>
          </a:xfrm>
        </p:spPr>
        <p:txBody>
          <a:bodyPr/>
          <a:lstStyle/>
          <a:p>
            <a:pPr algn="just">
              <a:lnSpc>
                <a:spcPct val="150000"/>
              </a:lnSpc>
            </a:pPr>
            <a:r>
              <a:rPr lang="en-IN" b="1" dirty="0"/>
              <a:t>Backend:</a:t>
            </a:r>
            <a:r>
              <a:rPr lang="en-IN" dirty="0"/>
              <a:t> Python – Flask framework handles application logic and routing.</a:t>
            </a:r>
          </a:p>
          <a:p>
            <a:pPr algn="just">
              <a:lnSpc>
                <a:spcPct val="150000"/>
              </a:lnSpc>
            </a:pPr>
            <a:r>
              <a:rPr lang="en-IN" b="1" dirty="0"/>
              <a:t>Database:</a:t>
            </a:r>
            <a:r>
              <a:rPr lang="en-IN" dirty="0"/>
              <a:t> SQLite stores user, product, and order data.</a:t>
            </a:r>
          </a:p>
          <a:p>
            <a:pPr algn="just">
              <a:lnSpc>
                <a:spcPct val="150000"/>
              </a:lnSpc>
            </a:pPr>
            <a:r>
              <a:rPr lang="en-IN" b="1" dirty="0"/>
              <a:t>Frontend:</a:t>
            </a:r>
            <a:r>
              <a:rPr lang="en-IN" dirty="0"/>
              <a:t> HTML, CSS, Bootstrap provide a responsive user interface.</a:t>
            </a:r>
          </a:p>
          <a:p>
            <a:pPr algn="just">
              <a:lnSpc>
                <a:spcPct val="150000"/>
              </a:lnSpc>
            </a:pPr>
            <a:r>
              <a:rPr lang="en-IN" b="1" dirty="0"/>
              <a:t>Scripting:</a:t>
            </a:r>
            <a:r>
              <a:rPr lang="en-IN" dirty="0"/>
              <a:t> JavaScript enables dynamic interactions and validations.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Modules</a:t>
            </a:r>
          </a:p>
        </p:txBody>
      </p:sp>
      <p:sp>
        <p:nvSpPr>
          <p:cNvPr id="3" name="Content Placeholder 2"/>
          <p:cNvSpPr>
            <a:spLocks noGrp="1"/>
          </p:cNvSpPr>
          <p:nvPr>
            <p:ph idx="1"/>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Farmer Module</a:t>
            </a:r>
            <a:r>
              <a:rPr lang="en-US" sz="2000" dirty="0">
                <a:latin typeface="Times New Roman" panose="02020603050405020304" pitchFamily="18" charset="0"/>
                <a:cs typeface="Times New Roman" panose="02020603050405020304" pitchFamily="18" charset="0"/>
              </a:rPr>
              <a:t> – Product listing, pricing, and promotions.</a:t>
            </a:r>
          </a:p>
          <a:p>
            <a:pPr>
              <a:lnSpc>
                <a:spcPct val="150000"/>
              </a:lnSpc>
            </a:pPr>
            <a:r>
              <a:rPr lang="en-US" sz="2000" b="1" dirty="0">
                <a:latin typeface="Times New Roman" panose="02020603050405020304" pitchFamily="18" charset="0"/>
                <a:cs typeface="Times New Roman" panose="02020603050405020304" pitchFamily="18" charset="0"/>
              </a:rPr>
              <a:t>Buyer Module</a:t>
            </a:r>
            <a:r>
              <a:rPr lang="en-US" sz="2000" dirty="0">
                <a:latin typeface="Times New Roman" panose="02020603050405020304" pitchFamily="18" charset="0"/>
                <a:cs typeface="Times New Roman" panose="02020603050405020304" pitchFamily="18" charset="0"/>
              </a:rPr>
              <a:t> – Product browsing and order placement.</a:t>
            </a:r>
          </a:p>
          <a:p>
            <a:pPr>
              <a:lnSpc>
                <a:spcPct val="150000"/>
              </a:lnSpc>
            </a:pPr>
            <a:r>
              <a:rPr lang="en-US" sz="2000" b="1" dirty="0">
                <a:latin typeface="Times New Roman" panose="02020603050405020304" pitchFamily="18" charset="0"/>
                <a:cs typeface="Times New Roman" panose="02020603050405020304" pitchFamily="18" charset="0"/>
              </a:rPr>
              <a:t>Admin Module</a:t>
            </a:r>
            <a:r>
              <a:rPr lang="en-US" sz="2000" dirty="0">
                <a:latin typeface="Times New Roman" panose="02020603050405020304" pitchFamily="18" charset="0"/>
                <a:cs typeface="Times New Roman" panose="02020603050405020304" pitchFamily="18" charset="0"/>
              </a:rPr>
              <a:t> – User and product management.</a:t>
            </a:r>
          </a:p>
          <a:p>
            <a:pPr>
              <a:lnSpc>
                <a:spcPct val="150000"/>
              </a:lnSpc>
            </a:pPr>
            <a:r>
              <a:rPr lang="en-US" sz="2000" b="1" dirty="0">
                <a:latin typeface="Times New Roman" panose="02020603050405020304" pitchFamily="18" charset="0"/>
                <a:cs typeface="Times New Roman" panose="02020603050405020304" pitchFamily="18" charset="0"/>
              </a:rPr>
              <a:t>E-Digital Marketing Module</a:t>
            </a:r>
            <a:r>
              <a:rPr lang="en-US" sz="2000" dirty="0">
                <a:latin typeface="Times New Roman" panose="02020603050405020304" pitchFamily="18" charset="0"/>
                <a:cs typeface="Times New Roman" panose="02020603050405020304" pitchFamily="18" charset="0"/>
              </a:rPr>
              <a:t> – Promotions and analytics.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6" name="Rectangle 2">
            <a:extLst>
              <a:ext uri="{FF2B5EF4-FFF2-40B4-BE49-F238E27FC236}">
                <a16:creationId xmlns:a16="http://schemas.microsoft.com/office/drawing/2014/main" id="{87144826-713C-3AB3-5ED6-D88406BB09CB}"/>
              </a:ext>
            </a:extLst>
          </p:cNvPr>
          <p:cNvSpPr>
            <a:spLocks noGrp="1" noChangeArrowheads="1"/>
          </p:cNvSpPr>
          <p:nvPr>
            <p:ph idx="1"/>
          </p:nvPr>
        </p:nvSpPr>
        <p:spPr bwMode="auto">
          <a:xfrm>
            <a:off x="1945201" y="2492263"/>
            <a:ext cx="6231193" cy="24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interacts with the system through a web interface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backend handles business logic and requests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SQLite database stores users, products, and orders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 manages and monitors system activities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a:t>
            </a:r>
          </a:p>
        </p:txBody>
      </p:sp>
      <p:sp>
        <p:nvSpPr>
          <p:cNvPr id="7" name="Rectangle 3">
            <a:extLst>
              <a:ext uri="{FF2B5EF4-FFF2-40B4-BE49-F238E27FC236}">
                <a16:creationId xmlns:a16="http://schemas.microsoft.com/office/drawing/2014/main" id="{624D9E26-26E1-4DD0-6130-9995080372C8}"/>
              </a:ext>
            </a:extLst>
          </p:cNvPr>
          <p:cNvSpPr>
            <a:spLocks noGrp="1" noChangeArrowheads="1"/>
          </p:cNvSpPr>
          <p:nvPr>
            <p:ph idx="1"/>
          </p:nvPr>
        </p:nvSpPr>
        <p:spPr bwMode="auto">
          <a:xfrm>
            <a:off x="1945201" y="2492263"/>
            <a:ext cx="6173678" cy="24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Unit Testing to verify individual modules functionality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Testing to ensure smooth module interaction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Testing to validate complete system behavior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Acceptance Testing to check usability and reliability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1576655" y="2133600"/>
            <a:ext cx="6591985" cy="3777622"/>
          </a:xfrm>
        </p:spPr>
        <p:txBody>
          <a:bodyPr>
            <a:normAutofit/>
          </a:bodyPr>
          <a:lstStyle/>
          <a:p>
            <a:pPr marL="0" indent="0" algn="just">
              <a:lnSpc>
                <a:spcPct val="200000"/>
              </a:lnSpc>
              <a:buNone/>
            </a:pPr>
            <a:r>
              <a:rPr lang="en-US" sz="2000" dirty="0">
                <a:latin typeface="Times New Roman" panose="02020603050405020304" pitchFamily="18" charset="0"/>
                <a:cs typeface="Times New Roman" panose="02020603050405020304" pitchFamily="18" charset="0"/>
              </a:rPr>
              <a:t>	The Smart Farmer Marketplace and E-Digital Marketing System provides a reliable digital solution for agricultural trade. It improves farmer income, increases buyer convenience, and promotes transparent transactions. The system is suitable for academic use and real-world adaptation.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normAutofit/>
          </a:bodyPr>
          <a:lstStyle/>
          <a:p>
            <a:pPr>
              <a:lnSpc>
                <a:spcPct val="200000"/>
              </a:lnSpc>
            </a:pPr>
            <a:r>
              <a:rPr lang="en-US" sz="2000" dirty="0">
                <a:latin typeface="Times New Roman" panose="02020603050405020304" pitchFamily="18" charset="0"/>
                <a:cs typeface="Times New Roman" panose="02020603050405020304" pitchFamily="18" charset="0"/>
              </a:rPr>
              <a:t>Integration of online payment gateways.</a:t>
            </a:r>
          </a:p>
          <a:p>
            <a:pPr>
              <a:lnSpc>
                <a:spcPct val="200000"/>
              </a:lnSpc>
            </a:pPr>
            <a:r>
              <a:rPr lang="en-US" sz="2000" dirty="0">
                <a:latin typeface="Times New Roman" panose="02020603050405020304" pitchFamily="18" charset="0"/>
                <a:cs typeface="Times New Roman" panose="02020603050405020304" pitchFamily="18" charset="0"/>
              </a:rPr>
              <a:t>Development of a mobile application.</a:t>
            </a:r>
          </a:p>
          <a:p>
            <a:pPr>
              <a:lnSpc>
                <a:spcPct val="200000"/>
              </a:lnSpc>
            </a:pPr>
            <a:r>
              <a:rPr lang="en-US" sz="2000" dirty="0">
                <a:latin typeface="Times New Roman" panose="02020603050405020304" pitchFamily="18" charset="0"/>
                <a:cs typeface="Times New Roman" panose="02020603050405020304" pitchFamily="18" charset="0"/>
              </a:rPr>
              <a:t>AI-based price prediction system.</a:t>
            </a:r>
          </a:p>
          <a:p>
            <a:pPr>
              <a:lnSpc>
                <a:spcPct val="200000"/>
              </a:lnSpc>
            </a:pPr>
            <a:r>
              <a:rPr lang="en-US" sz="2000" dirty="0">
                <a:latin typeface="Times New Roman" panose="02020603050405020304" pitchFamily="18" charset="0"/>
                <a:cs typeface="Times New Roman" panose="02020603050405020304" pitchFamily="18" charset="0"/>
              </a:rPr>
              <a:t>Weather-based crop recommendation features.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49</TotalTime>
  <Words>447</Words>
  <Application>Microsoft Office PowerPoint</Application>
  <PresentationFormat>On-screen Show (4:3)</PresentationFormat>
  <Paragraphs>43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Wisp</vt:lpstr>
      <vt:lpstr>SMART FARMER MARKETPLACE &amp; E-DIGITAL MARKETING SYSTEM</vt:lpstr>
      <vt:lpstr>Abstract</vt:lpstr>
      <vt:lpstr>Introduction</vt:lpstr>
      <vt:lpstr>Existing System</vt:lpstr>
      <vt:lpstr>Proposed System</vt:lpstr>
      <vt:lpstr>Technology Stack</vt:lpstr>
      <vt:lpstr>System Modules</vt:lpstr>
      <vt:lpstr>System Architecture</vt:lpstr>
      <vt:lpstr>Testing</vt:lpstr>
      <vt:lpstr>Conclusion</vt:lpstr>
      <vt:lpstr>Future Enhancements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rajeshrajesh91648@outlook.com</cp:lastModifiedBy>
  <cp:revision>3</cp:revision>
  <dcterms:created xsi:type="dcterms:W3CDTF">2013-01-27T09:14:16Z</dcterms:created>
  <dcterms:modified xsi:type="dcterms:W3CDTF">2026-02-05T14:15:02Z</dcterms:modified>
  <cp:category/>
</cp:coreProperties>
</file>